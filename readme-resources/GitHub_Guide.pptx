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0"/>
    <p:restoredTop sz="94737"/>
  </p:normalViewPr>
  <p:slideViewPr>
    <p:cSldViewPr snapToGrid="0">
      <p:cViewPr varScale="1">
        <p:scale>
          <a:sx n="159" d="100"/>
          <a:sy n="159" d="100"/>
        </p:scale>
        <p:origin x="408"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ce198ffdb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ce198ffdb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ce198ffdb8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ce198ffdb8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ce198ffdb8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ce198ffdb8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ce198ffdb8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ce198ffdb8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ce198ffdb8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ce198ffdb8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ce1f76c529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ce1f76c529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ce1f76c529_1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ce1f76c529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ce1f76c529_1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ce1f76c529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ce1f76c529_1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ce1f76c529_1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ce1f76c529_1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ce1f76c529_1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ce1f76c529_1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ce1f76c529_1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scm.com"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1426866" y="371788"/>
            <a:ext cx="6079059" cy="938229"/>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dirty="0"/>
              <a:t>A guide to …</a:t>
            </a:r>
            <a:endParaRPr dirty="0"/>
          </a:p>
        </p:txBody>
      </p:sp>
      <p:pic>
        <p:nvPicPr>
          <p:cNvPr id="1026" name="Picture 2" descr="GitHub folds into Microsoft following CEO resignation — once independent  programming site now part of 'CoreAI' team | Tom's Hardware">
            <a:extLst>
              <a:ext uri="{FF2B5EF4-FFF2-40B4-BE49-F238E27FC236}">
                <a16:creationId xmlns:a16="http://schemas.microsoft.com/office/drawing/2014/main" id="{E8474B17-4FB7-7036-0083-E4B2288BC1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5416" y="1771613"/>
            <a:ext cx="5608913" cy="280445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75302BE-1103-FEA7-903D-EE5CD772CB34}"/>
              </a:ext>
            </a:extLst>
          </p:cNvPr>
          <p:cNvSpPr txBox="1"/>
          <p:nvPr/>
        </p:nvSpPr>
        <p:spPr>
          <a:xfrm>
            <a:off x="7576263" y="4617823"/>
            <a:ext cx="1457205" cy="307777"/>
          </a:xfrm>
          <a:prstGeom prst="rect">
            <a:avLst/>
          </a:prstGeom>
          <a:noFill/>
        </p:spPr>
        <p:txBody>
          <a:bodyPr wrap="square" rtlCol="0">
            <a:spAutoFit/>
          </a:bodyPr>
          <a:lstStyle/>
          <a:p>
            <a:r>
              <a:rPr lang="en-US" dirty="0"/>
              <a:t>with VS Code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Setting Up Part 1</a:t>
            </a:r>
            <a:endParaRPr/>
          </a:p>
        </p:txBody>
      </p:sp>
      <p:sp>
        <p:nvSpPr>
          <p:cNvPr id="60" name="Google Shape;60;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Font typeface="Courier New"/>
              <a:buAutoNum type="arabicPeriod"/>
            </a:pPr>
            <a:r>
              <a:rPr lang="en" dirty="0">
                <a:latin typeface="Courier New"/>
                <a:ea typeface="Courier New"/>
                <a:cs typeface="Courier New"/>
                <a:sym typeface="Courier New"/>
              </a:rPr>
              <a:t>git –version (ensure you have GitHub downloaded)</a:t>
            </a:r>
            <a:endParaRPr dirty="0">
              <a:latin typeface="Courier New"/>
              <a:ea typeface="Courier New"/>
              <a:cs typeface="Courier New"/>
              <a:sym typeface="Courier New"/>
            </a:endParaRPr>
          </a:p>
          <a:p>
            <a:pPr marL="457200" lvl="0" indent="-342900" algn="l" rtl="0">
              <a:spcBef>
                <a:spcPts val="0"/>
              </a:spcBef>
              <a:spcAft>
                <a:spcPts val="0"/>
              </a:spcAft>
              <a:buSzPts val="1800"/>
              <a:buFont typeface="Courier New"/>
              <a:buAutoNum type="arabicPeriod"/>
            </a:pPr>
            <a:r>
              <a:rPr lang="en" u="sng" dirty="0">
                <a:solidFill>
                  <a:schemeClr val="hlink"/>
                </a:solidFill>
                <a:latin typeface="Courier New"/>
                <a:ea typeface="Courier New"/>
                <a:cs typeface="Courier New"/>
                <a:sym typeface="Courier New"/>
                <a:hlinkClick r:id="rId3"/>
              </a:rPr>
              <a:t>https://git-scm.com</a:t>
            </a:r>
            <a:r>
              <a:rPr lang="en" dirty="0">
                <a:latin typeface="Courier New"/>
                <a:ea typeface="Courier New"/>
                <a:cs typeface="Courier New"/>
                <a:sym typeface="Courier New"/>
              </a:rPr>
              <a:t> (if not already downloaded)</a:t>
            </a:r>
            <a:endParaRPr dirty="0">
              <a:latin typeface="Courier New"/>
              <a:ea typeface="Courier New"/>
              <a:cs typeface="Courier New"/>
              <a:sym typeface="Courier New"/>
            </a:endParaRPr>
          </a:p>
          <a:p>
            <a:pPr marL="457200" lvl="0" indent="-342900" algn="l" rtl="0">
              <a:spcBef>
                <a:spcPts val="0"/>
              </a:spcBef>
              <a:spcAft>
                <a:spcPts val="0"/>
              </a:spcAft>
              <a:buSzPts val="1800"/>
              <a:buFont typeface="Courier New"/>
              <a:buAutoNum type="arabicPeriod"/>
            </a:pPr>
            <a:r>
              <a:rPr lang="en" dirty="0">
                <a:latin typeface="Courier New"/>
                <a:ea typeface="Courier New"/>
                <a:cs typeface="Courier New"/>
                <a:sym typeface="Courier New"/>
              </a:rPr>
              <a:t>Sign in to Co-Pilot with your GitHub account</a:t>
            </a:r>
          </a:p>
          <a:p>
            <a:pPr marL="457200" lvl="0" indent="-342900" algn="l" rtl="0">
              <a:spcBef>
                <a:spcPts val="0"/>
              </a:spcBef>
              <a:spcAft>
                <a:spcPts val="0"/>
              </a:spcAft>
              <a:buSzPts val="1800"/>
              <a:buFont typeface="Courier New"/>
              <a:buAutoNum type="arabicPeriod"/>
            </a:pPr>
            <a:r>
              <a:rPr lang="en" dirty="0">
                <a:latin typeface="Courier New"/>
                <a:ea typeface="Courier New"/>
                <a:cs typeface="Courier New"/>
                <a:sym typeface="Courier New"/>
              </a:rPr>
              <a:t>Go to the page of the repo you want to download</a:t>
            </a:r>
            <a:endParaRPr dirty="0">
              <a:latin typeface="Courier New"/>
              <a:ea typeface="Courier New"/>
              <a:cs typeface="Courier New"/>
              <a:sym typeface="Courier New"/>
            </a:endParaRPr>
          </a:p>
          <a:p>
            <a:pPr marL="457200" lvl="0" indent="-342900" algn="l" rtl="0">
              <a:spcBef>
                <a:spcPts val="0"/>
              </a:spcBef>
              <a:spcAft>
                <a:spcPts val="0"/>
              </a:spcAft>
              <a:buSzPts val="1800"/>
              <a:buFont typeface="Courier New"/>
              <a:buAutoNum type="arabicPeriod"/>
            </a:pPr>
            <a:endParaRPr dirty="0">
              <a:latin typeface="Courier New"/>
              <a:ea typeface="Courier New"/>
              <a:cs typeface="Courier New"/>
              <a:sym typeface="Courier New"/>
            </a:endParaRPr>
          </a:p>
        </p:txBody>
      </p:sp>
      <p:pic>
        <p:nvPicPr>
          <p:cNvPr id="61" name="Google Shape;61;p14"/>
          <p:cNvPicPr preferRelativeResize="0"/>
          <p:nvPr/>
        </p:nvPicPr>
        <p:blipFill>
          <a:blip r:embed="rId4">
            <a:alphaModFix/>
          </a:blip>
          <a:stretch>
            <a:fillRect/>
          </a:stretch>
        </p:blipFill>
        <p:spPr>
          <a:xfrm>
            <a:off x="884255" y="2793441"/>
            <a:ext cx="5860474" cy="202403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Setting Up Part 2</a:t>
            </a:r>
            <a:endParaRPr/>
          </a:p>
        </p:txBody>
      </p:sp>
      <p:sp>
        <p:nvSpPr>
          <p:cNvPr id="67" name="Google Shape;67;p15"/>
          <p:cNvSpPr txBox="1">
            <a:spLocks noGrp="1"/>
          </p:cNvSpPr>
          <p:nvPr>
            <p:ph type="body" idx="1"/>
          </p:nvPr>
        </p:nvSpPr>
        <p:spPr>
          <a:xfrm>
            <a:off x="311700" y="1152475"/>
            <a:ext cx="8520600" cy="4223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latin typeface="Courier New"/>
                <a:ea typeface="Courier New"/>
                <a:cs typeface="Courier New"/>
                <a:sym typeface="Courier New"/>
              </a:rPr>
              <a:t>1. </a:t>
            </a:r>
            <a:r>
              <a:rPr lang="en" dirty="0" err="1">
                <a:latin typeface="Courier New"/>
                <a:ea typeface="Courier New"/>
                <a:cs typeface="Courier New"/>
                <a:sym typeface="Courier New"/>
              </a:rPr>
              <a:t>Cmd</a:t>
            </a:r>
            <a:r>
              <a:rPr lang="en" dirty="0">
                <a:latin typeface="Courier New"/>
                <a:ea typeface="Courier New"/>
                <a:cs typeface="Courier New"/>
                <a:sym typeface="Courier New"/>
              </a:rPr>
              <a:t> + Shift + P</a:t>
            </a:r>
            <a:endParaRPr dirty="0">
              <a:latin typeface="Courier New"/>
              <a:ea typeface="Courier New"/>
              <a:cs typeface="Courier New"/>
              <a:sym typeface="Courier New"/>
            </a:endParaRPr>
          </a:p>
          <a:p>
            <a:pPr marL="0" lvl="0" indent="0" algn="l" rtl="0">
              <a:spcBef>
                <a:spcPts val="1200"/>
              </a:spcBef>
              <a:spcAft>
                <a:spcPts val="0"/>
              </a:spcAft>
              <a:buNone/>
            </a:pPr>
            <a:r>
              <a:rPr lang="en" dirty="0">
                <a:latin typeface="Courier New"/>
                <a:ea typeface="Courier New"/>
                <a:cs typeface="Courier New"/>
                <a:sym typeface="Courier New"/>
              </a:rPr>
              <a:t>2. Git: Clone</a:t>
            </a:r>
            <a:endParaRPr dirty="0">
              <a:latin typeface="Courier New"/>
              <a:ea typeface="Courier New"/>
              <a:cs typeface="Courier New"/>
              <a:sym typeface="Courier New"/>
            </a:endParaRPr>
          </a:p>
          <a:p>
            <a:pPr marL="0" lvl="0" indent="0" algn="l" rtl="0">
              <a:spcBef>
                <a:spcPts val="1200"/>
              </a:spcBef>
              <a:spcAft>
                <a:spcPts val="0"/>
              </a:spcAft>
              <a:buNone/>
            </a:pPr>
            <a:r>
              <a:rPr lang="en" dirty="0">
                <a:latin typeface="Courier New"/>
                <a:ea typeface="Courier New"/>
                <a:cs typeface="Courier New"/>
                <a:sym typeface="Courier New"/>
              </a:rPr>
              <a:t>3. Paste repo</a:t>
            </a:r>
            <a:endParaRPr dirty="0">
              <a:latin typeface="Courier New"/>
              <a:ea typeface="Courier New"/>
              <a:cs typeface="Courier New"/>
              <a:sym typeface="Courier New"/>
            </a:endParaRPr>
          </a:p>
          <a:p>
            <a:pPr marL="0" lvl="0" indent="0" algn="l" rtl="0">
              <a:spcBef>
                <a:spcPts val="1200"/>
              </a:spcBef>
              <a:spcAft>
                <a:spcPts val="0"/>
              </a:spcAft>
              <a:buNone/>
            </a:pPr>
            <a:r>
              <a:rPr lang="en" dirty="0">
                <a:latin typeface="Courier New"/>
                <a:ea typeface="Courier New"/>
                <a:cs typeface="Courier New"/>
                <a:sym typeface="Courier New"/>
              </a:rPr>
              <a:t>4. Follow </a:t>
            </a:r>
            <a:r>
              <a:rPr lang="en" dirty="0" err="1">
                <a:latin typeface="Courier New"/>
                <a:ea typeface="Courier New"/>
                <a:cs typeface="Courier New"/>
                <a:sym typeface="Courier New"/>
              </a:rPr>
              <a:t>authorisation</a:t>
            </a:r>
            <a:r>
              <a:rPr lang="en" dirty="0">
                <a:latin typeface="Courier New"/>
                <a:ea typeface="Courier New"/>
                <a:cs typeface="Courier New"/>
                <a:sym typeface="Courier New"/>
              </a:rPr>
              <a:t> steps (they pop up)</a:t>
            </a:r>
            <a:endParaRPr dirty="0">
              <a:latin typeface="Courier New"/>
              <a:ea typeface="Courier New"/>
              <a:cs typeface="Courier New"/>
              <a:sym typeface="Courier New"/>
            </a:endParaRPr>
          </a:p>
          <a:p>
            <a:pPr marL="0" lvl="0" indent="0" algn="l" rtl="0">
              <a:spcBef>
                <a:spcPts val="1200"/>
              </a:spcBef>
              <a:spcAft>
                <a:spcPts val="0"/>
              </a:spcAft>
              <a:buNone/>
            </a:pPr>
            <a:r>
              <a:rPr lang="en" dirty="0">
                <a:latin typeface="Courier New"/>
                <a:ea typeface="Courier New"/>
                <a:cs typeface="Courier New"/>
                <a:sym typeface="Courier New"/>
              </a:rPr>
              <a:t>5.</a:t>
            </a:r>
            <a:endParaRPr dirty="0">
              <a:latin typeface="Courier New"/>
              <a:ea typeface="Courier New"/>
              <a:cs typeface="Courier New"/>
              <a:sym typeface="Courier New"/>
            </a:endParaRPr>
          </a:p>
          <a:p>
            <a:pPr marL="0" lvl="0" indent="0" algn="l" rtl="0">
              <a:spcBef>
                <a:spcPts val="1200"/>
              </a:spcBef>
              <a:spcAft>
                <a:spcPts val="0"/>
              </a:spcAft>
              <a:buNone/>
            </a:pPr>
            <a:endParaRPr dirty="0">
              <a:latin typeface="Courier New"/>
              <a:ea typeface="Courier New"/>
              <a:cs typeface="Courier New"/>
              <a:sym typeface="Courier New"/>
            </a:endParaRPr>
          </a:p>
          <a:p>
            <a:pPr marL="0" lvl="0" indent="0" algn="l" rtl="0">
              <a:spcBef>
                <a:spcPts val="1200"/>
              </a:spcBef>
              <a:spcAft>
                <a:spcPts val="0"/>
              </a:spcAft>
              <a:buNone/>
            </a:pPr>
            <a:endParaRPr dirty="0">
              <a:latin typeface="Courier New"/>
              <a:ea typeface="Courier New"/>
              <a:cs typeface="Courier New"/>
              <a:sym typeface="Courier New"/>
            </a:endParaRPr>
          </a:p>
          <a:p>
            <a:pPr marL="0" lvl="0" indent="0" algn="l" rtl="0">
              <a:spcBef>
                <a:spcPts val="1200"/>
              </a:spcBef>
              <a:spcAft>
                <a:spcPts val="1200"/>
              </a:spcAft>
              <a:buNone/>
            </a:pPr>
            <a:r>
              <a:rPr lang="en" dirty="0">
                <a:latin typeface="Courier New"/>
                <a:ea typeface="Courier New"/>
                <a:cs typeface="Courier New"/>
                <a:sym typeface="Courier New"/>
              </a:rPr>
              <a:t> </a:t>
            </a:r>
            <a:endParaRPr dirty="0">
              <a:latin typeface="Courier New"/>
              <a:ea typeface="Courier New"/>
              <a:cs typeface="Courier New"/>
              <a:sym typeface="Courier New"/>
            </a:endParaRPr>
          </a:p>
        </p:txBody>
      </p:sp>
      <p:pic>
        <p:nvPicPr>
          <p:cNvPr id="68" name="Google Shape;68;p15"/>
          <p:cNvPicPr preferRelativeResize="0"/>
          <p:nvPr/>
        </p:nvPicPr>
        <p:blipFill rotWithShape="1">
          <a:blip r:embed="rId3">
            <a:alphaModFix/>
          </a:blip>
          <a:srcRect t="74321"/>
          <a:stretch/>
        </p:blipFill>
        <p:spPr>
          <a:xfrm>
            <a:off x="769075" y="3160250"/>
            <a:ext cx="5759700" cy="13208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Setting Up Part 3</a:t>
            </a:r>
            <a:endParaRPr/>
          </a:p>
        </p:txBody>
      </p:sp>
      <p:sp>
        <p:nvSpPr>
          <p:cNvPr id="74" name="Google Shape;74;p16"/>
          <p:cNvSpPr txBox="1">
            <a:spLocks noGrp="1"/>
          </p:cNvSpPr>
          <p:nvPr>
            <p:ph type="body" idx="1"/>
          </p:nvPr>
        </p:nvSpPr>
        <p:spPr>
          <a:xfrm>
            <a:off x="311700" y="1152475"/>
            <a:ext cx="8520600" cy="42231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dirty="0">
                <a:latin typeface="Courier New"/>
                <a:ea typeface="Courier New"/>
                <a:cs typeface="Courier New"/>
                <a:sym typeface="Courier New"/>
              </a:rPr>
              <a:t>1.</a:t>
            </a:r>
            <a:endParaRPr dirty="0">
              <a:latin typeface="Courier New"/>
              <a:ea typeface="Courier New"/>
              <a:cs typeface="Courier New"/>
              <a:sym typeface="Courier New"/>
            </a:endParaRPr>
          </a:p>
          <a:p>
            <a:pPr marL="0" lvl="0" indent="0" algn="l" rtl="0">
              <a:spcBef>
                <a:spcPts val="1200"/>
              </a:spcBef>
              <a:spcAft>
                <a:spcPts val="0"/>
              </a:spcAft>
              <a:buNone/>
            </a:pPr>
            <a:endParaRPr dirty="0">
              <a:latin typeface="Courier New"/>
              <a:ea typeface="Courier New"/>
              <a:cs typeface="Courier New"/>
              <a:sym typeface="Courier New"/>
            </a:endParaRPr>
          </a:p>
          <a:p>
            <a:pPr marL="0" lvl="0" indent="0" algn="l" rtl="0">
              <a:spcBef>
                <a:spcPts val="1200"/>
              </a:spcBef>
              <a:spcAft>
                <a:spcPts val="0"/>
              </a:spcAft>
              <a:buNone/>
            </a:pPr>
            <a:endParaRPr dirty="0">
              <a:latin typeface="Courier New"/>
              <a:ea typeface="Courier New"/>
              <a:cs typeface="Courier New"/>
              <a:sym typeface="Courier New"/>
            </a:endParaRPr>
          </a:p>
          <a:p>
            <a:pPr marL="0" lvl="0" indent="0" algn="l" rtl="0">
              <a:spcBef>
                <a:spcPts val="1200"/>
              </a:spcBef>
              <a:spcAft>
                <a:spcPts val="0"/>
              </a:spcAft>
              <a:buNone/>
            </a:pPr>
            <a:endParaRPr dirty="0">
              <a:latin typeface="Courier New"/>
              <a:ea typeface="Courier New"/>
              <a:cs typeface="Courier New"/>
              <a:sym typeface="Courier New"/>
            </a:endParaRPr>
          </a:p>
          <a:p>
            <a:pPr marL="0" lvl="0" indent="0" algn="l" rtl="0">
              <a:spcBef>
                <a:spcPts val="1200"/>
              </a:spcBef>
              <a:spcAft>
                <a:spcPts val="0"/>
              </a:spcAft>
              <a:buNone/>
            </a:pPr>
            <a:r>
              <a:rPr lang="en" dirty="0">
                <a:latin typeface="Courier New"/>
                <a:ea typeface="Courier New"/>
                <a:cs typeface="Courier New"/>
                <a:sym typeface="Courier New"/>
              </a:rPr>
              <a:t>2. Type in the name you want for your branch.</a:t>
            </a:r>
            <a:endParaRPr dirty="0">
              <a:latin typeface="Courier New"/>
              <a:ea typeface="Courier New"/>
              <a:cs typeface="Courier New"/>
              <a:sym typeface="Courier New"/>
            </a:endParaRPr>
          </a:p>
          <a:p>
            <a:pPr marL="0" lvl="0" indent="0" algn="l" rtl="0">
              <a:spcBef>
                <a:spcPts val="1200"/>
              </a:spcBef>
              <a:spcAft>
                <a:spcPts val="0"/>
              </a:spcAft>
              <a:buNone/>
            </a:pPr>
            <a:r>
              <a:rPr lang="en" dirty="0">
                <a:latin typeface="Courier New"/>
                <a:ea typeface="Courier New"/>
                <a:cs typeface="Courier New"/>
                <a:sym typeface="Courier New"/>
              </a:rPr>
              <a:t>3. This should now look like this:</a:t>
            </a:r>
            <a:endParaRPr dirty="0">
              <a:latin typeface="Courier New"/>
              <a:ea typeface="Courier New"/>
              <a:cs typeface="Courier New"/>
              <a:sym typeface="Courier New"/>
            </a:endParaRPr>
          </a:p>
          <a:p>
            <a:pPr marL="0" lvl="0" indent="0" algn="l" rtl="0">
              <a:spcBef>
                <a:spcPts val="1200"/>
              </a:spcBef>
              <a:spcAft>
                <a:spcPts val="0"/>
              </a:spcAft>
              <a:buNone/>
            </a:pPr>
            <a:endParaRPr dirty="0">
              <a:latin typeface="Courier New"/>
              <a:ea typeface="Courier New"/>
              <a:cs typeface="Courier New"/>
              <a:sym typeface="Courier New"/>
            </a:endParaRPr>
          </a:p>
          <a:p>
            <a:pPr marL="0" lvl="0" indent="0" algn="l" rtl="0">
              <a:spcBef>
                <a:spcPts val="1200"/>
              </a:spcBef>
              <a:spcAft>
                <a:spcPts val="0"/>
              </a:spcAft>
              <a:buNone/>
            </a:pPr>
            <a:endParaRPr dirty="0">
              <a:latin typeface="Courier New"/>
              <a:ea typeface="Courier New"/>
              <a:cs typeface="Courier New"/>
              <a:sym typeface="Courier New"/>
            </a:endParaRPr>
          </a:p>
          <a:p>
            <a:pPr marL="0" lvl="0" indent="0" algn="l" rtl="0">
              <a:spcBef>
                <a:spcPts val="1200"/>
              </a:spcBef>
              <a:spcAft>
                <a:spcPts val="1200"/>
              </a:spcAft>
              <a:buNone/>
            </a:pPr>
            <a:r>
              <a:rPr lang="en" dirty="0">
                <a:latin typeface="Courier New"/>
                <a:ea typeface="Courier New"/>
                <a:cs typeface="Courier New"/>
                <a:sym typeface="Courier New"/>
              </a:rPr>
              <a:t> </a:t>
            </a:r>
            <a:endParaRPr dirty="0">
              <a:latin typeface="Courier New"/>
              <a:ea typeface="Courier New"/>
              <a:cs typeface="Courier New"/>
              <a:sym typeface="Courier New"/>
            </a:endParaRPr>
          </a:p>
        </p:txBody>
      </p:sp>
      <p:pic>
        <p:nvPicPr>
          <p:cNvPr id="75" name="Google Shape;75;p16"/>
          <p:cNvPicPr preferRelativeResize="0"/>
          <p:nvPr/>
        </p:nvPicPr>
        <p:blipFill>
          <a:blip r:embed="rId3">
            <a:alphaModFix/>
          </a:blip>
          <a:stretch>
            <a:fillRect/>
          </a:stretch>
        </p:blipFill>
        <p:spPr>
          <a:xfrm>
            <a:off x="1020825" y="1263575"/>
            <a:ext cx="6461601" cy="1511700"/>
          </a:xfrm>
          <a:prstGeom prst="rect">
            <a:avLst/>
          </a:prstGeom>
          <a:noFill/>
          <a:ln>
            <a:noFill/>
          </a:ln>
        </p:spPr>
      </p:pic>
      <p:pic>
        <p:nvPicPr>
          <p:cNvPr id="76" name="Google Shape;76;p16"/>
          <p:cNvPicPr preferRelativeResize="0"/>
          <p:nvPr/>
        </p:nvPicPr>
        <p:blipFill rotWithShape="1">
          <a:blip r:embed="rId4">
            <a:alphaModFix/>
          </a:blip>
          <a:srcRect t="43449"/>
          <a:stretch/>
        </p:blipFill>
        <p:spPr>
          <a:xfrm>
            <a:off x="1020825" y="3879925"/>
            <a:ext cx="4357101" cy="7126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Setting up Python</a:t>
            </a:r>
            <a:endParaRPr dirty="0"/>
          </a:p>
        </p:txBody>
      </p:sp>
      <p:sp>
        <p:nvSpPr>
          <p:cNvPr id="82" name="Google Shape;82;p17"/>
          <p:cNvSpPr txBox="1">
            <a:spLocks noGrp="1"/>
          </p:cNvSpPr>
          <p:nvPr>
            <p:ph type="body" idx="1"/>
          </p:nvPr>
        </p:nvSpPr>
        <p:spPr>
          <a:xfrm>
            <a:off x="311700" y="1152475"/>
            <a:ext cx="8520600" cy="4223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latin typeface="Courier New"/>
                <a:ea typeface="Courier New"/>
                <a:cs typeface="Courier New"/>
                <a:sym typeface="Courier New"/>
              </a:rPr>
              <a:t>1. Click on a Python File (which you make by right clicking)</a:t>
            </a:r>
            <a:endParaRPr dirty="0">
              <a:latin typeface="Courier New"/>
              <a:ea typeface="Courier New"/>
              <a:cs typeface="Courier New"/>
              <a:sym typeface="Courier New"/>
            </a:endParaRPr>
          </a:p>
          <a:p>
            <a:pPr marL="0" lvl="0" indent="0" algn="l" rtl="0">
              <a:spcBef>
                <a:spcPts val="1200"/>
              </a:spcBef>
              <a:spcAft>
                <a:spcPts val="0"/>
              </a:spcAft>
              <a:buNone/>
            </a:pPr>
            <a:r>
              <a:rPr lang="en" dirty="0">
                <a:latin typeface="Courier New"/>
                <a:ea typeface="Courier New"/>
                <a:cs typeface="Courier New"/>
                <a:sym typeface="Courier New"/>
              </a:rPr>
              <a:t>2. </a:t>
            </a:r>
            <a:endParaRPr dirty="0">
              <a:latin typeface="Courier New"/>
              <a:ea typeface="Courier New"/>
              <a:cs typeface="Courier New"/>
              <a:sym typeface="Courier New"/>
            </a:endParaRPr>
          </a:p>
          <a:p>
            <a:pPr marL="0" lvl="0" indent="0" algn="l" rtl="0">
              <a:spcBef>
                <a:spcPts val="1200"/>
              </a:spcBef>
              <a:spcAft>
                <a:spcPts val="0"/>
              </a:spcAft>
              <a:buNone/>
            </a:pPr>
            <a:endParaRPr dirty="0">
              <a:latin typeface="Courier New"/>
              <a:ea typeface="Courier New"/>
              <a:cs typeface="Courier New"/>
              <a:sym typeface="Courier New"/>
            </a:endParaRPr>
          </a:p>
          <a:p>
            <a:pPr marL="0" lvl="0" indent="0" algn="l" rtl="0">
              <a:spcBef>
                <a:spcPts val="1200"/>
              </a:spcBef>
              <a:spcAft>
                <a:spcPts val="0"/>
              </a:spcAft>
              <a:buNone/>
            </a:pPr>
            <a:endParaRPr dirty="0">
              <a:latin typeface="Courier New"/>
              <a:ea typeface="Courier New"/>
              <a:cs typeface="Courier New"/>
              <a:sym typeface="Courier New"/>
            </a:endParaRPr>
          </a:p>
          <a:p>
            <a:pPr marL="0" lvl="0" indent="0" algn="l" rtl="0">
              <a:spcBef>
                <a:spcPts val="1200"/>
              </a:spcBef>
              <a:spcAft>
                <a:spcPts val="0"/>
              </a:spcAft>
              <a:buNone/>
            </a:pPr>
            <a:r>
              <a:rPr lang="en" dirty="0">
                <a:latin typeface="Courier New"/>
                <a:ea typeface="Courier New"/>
                <a:cs typeface="Courier New"/>
                <a:sym typeface="Courier New"/>
              </a:rPr>
              <a:t> </a:t>
            </a:r>
            <a:endParaRPr dirty="0">
              <a:latin typeface="Courier New"/>
              <a:ea typeface="Courier New"/>
              <a:cs typeface="Courier New"/>
              <a:sym typeface="Courier New"/>
            </a:endParaRPr>
          </a:p>
          <a:p>
            <a:pPr marL="0" lvl="0" indent="0" algn="l" rtl="0">
              <a:spcBef>
                <a:spcPts val="1200"/>
              </a:spcBef>
              <a:spcAft>
                <a:spcPts val="0"/>
              </a:spcAft>
              <a:buNone/>
            </a:pPr>
            <a:r>
              <a:rPr lang="en" dirty="0">
                <a:latin typeface="Courier New"/>
                <a:ea typeface="Courier New"/>
                <a:cs typeface="Courier New"/>
                <a:sym typeface="Courier New"/>
              </a:rPr>
              <a:t>3. Press install</a:t>
            </a:r>
            <a:endParaRPr dirty="0">
              <a:latin typeface="Courier New"/>
              <a:ea typeface="Courier New"/>
              <a:cs typeface="Courier New"/>
              <a:sym typeface="Courier New"/>
            </a:endParaRPr>
          </a:p>
          <a:p>
            <a:pPr marL="0" lvl="0" indent="0" algn="l" rtl="0">
              <a:spcBef>
                <a:spcPts val="1200"/>
              </a:spcBef>
              <a:spcAft>
                <a:spcPts val="1200"/>
              </a:spcAft>
              <a:buNone/>
            </a:pPr>
            <a:r>
              <a:rPr lang="en" dirty="0">
                <a:latin typeface="Courier New"/>
                <a:ea typeface="Courier New"/>
                <a:cs typeface="Courier New"/>
                <a:sym typeface="Courier New"/>
              </a:rPr>
              <a:t>4. You should now see a play button at the top of your  editor.</a:t>
            </a:r>
            <a:endParaRPr dirty="0">
              <a:latin typeface="Courier New"/>
              <a:ea typeface="Courier New"/>
              <a:cs typeface="Courier New"/>
              <a:sym typeface="Courier New"/>
            </a:endParaRPr>
          </a:p>
        </p:txBody>
      </p:sp>
      <p:pic>
        <p:nvPicPr>
          <p:cNvPr id="83" name="Google Shape;83;p17"/>
          <p:cNvPicPr preferRelativeResize="0"/>
          <p:nvPr/>
        </p:nvPicPr>
        <p:blipFill rotWithShape="1">
          <a:blip r:embed="rId3">
            <a:alphaModFix/>
          </a:blip>
          <a:srcRect l="12350" t="26324"/>
          <a:stretch/>
        </p:blipFill>
        <p:spPr>
          <a:xfrm>
            <a:off x="1031700" y="1715850"/>
            <a:ext cx="4778350" cy="15848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Naming convention</a:t>
            </a:r>
            <a:endParaRPr dirty="0"/>
          </a:p>
        </p:txBody>
      </p:sp>
      <p:sp>
        <p:nvSpPr>
          <p:cNvPr id="89" name="Google Shape;89;p18"/>
          <p:cNvSpPr txBox="1">
            <a:spLocks noGrp="1"/>
          </p:cNvSpPr>
          <p:nvPr>
            <p:ph type="body" idx="1"/>
          </p:nvPr>
        </p:nvSpPr>
        <p:spPr>
          <a:xfrm>
            <a:off x="311700" y="1152475"/>
            <a:ext cx="5313600" cy="4223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latin typeface="Courier New"/>
                <a:ea typeface="Courier New"/>
                <a:cs typeface="Courier New"/>
                <a:sym typeface="Courier New"/>
              </a:rPr>
              <a:t>1. Find the appropriate area to create a new function. If there is not a category yet, create a directory. </a:t>
            </a:r>
            <a:endParaRPr dirty="0">
              <a:latin typeface="Courier New"/>
              <a:ea typeface="Courier New"/>
              <a:cs typeface="Courier New"/>
              <a:sym typeface="Courier New"/>
            </a:endParaRPr>
          </a:p>
          <a:p>
            <a:pPr marL="0" lvl="0" indent="0" algn="l" rtl="0">
              <a:spcBef>
                <a:spcPts val="1200"/>
              </a:spcBef>
              <a:spcAft>
                <a:spcPts val="0"/>
              </a:spcAft>
              <a:buNone/>
            </a:pPr>
            <a:r>
              <a:rPr lang="en" dirty="0">
                <a:latin typeface="Courier New"/>
                <a:ea typeface="Courier New"/>
                <a:cs typeface="Courier New"/>
                <a:sym typeface="Courier New"/>
              </a:rPr>
              <a:t>In the example case, I have just created a folder called </a:t>
            </a:r>
            <a:r>
              <a:rPr lang="en" dirty="0" err="1">
                <a:latin typeface="Courier New"/>
                <a:ea typeface="Courier New"/>
                <a:cs typeface="Courier New"/>
                <a:sym typeface="Courier New"/>
              </a:rPr>
              <a:t>rf_logs</a:t>
            </a:r>
            <a:r>
              <a:rPr lang="en" dirty="0">
                <a:latin typeface="Courier New"/>
                <a:ea typeface="Courier New"/>
                <a:cs typeface="Courier New"/>
                <a:sym typeface="Courier New"/>
              </a:rPr>
              <a:t>, with a new python function called </a:t>
            </a:r>
            <a:r>
              <a:rPr lang="en" dirty="0" err="1">
                <a:latin typeface="Courier New"/>
                <a:ea typeface="Courier New"/>
                <a:cs typeface="Courier New"/>
                <a:sym typeface="Courier New"/>
              </a:rPr>
              <a:t>extract_protocol_times.py</a:t>
            </a:r>
            <a:endParaRPr dirty="0">
              <a:latin typeface="Courier New"/>
              <a:ea typeface="Courier New"/>
              <a:cs typeface="Courier New"/>
              <a:sym typeface="Courier New"/>
            </a:endParaRPr>
          </a:p>
          <a:p>
            <a:pPr marL="0" lvl="0" indent="0" algn="l" rtl="0">
              <a:spcBef>
                <a:spcPts val="1200"/>
              </a:spcBef>
              <a:spcAft>
                <a:spcPts val="1200"/>
              </a:spcAft>
              <a:buNone/>
            </a:pPr>
            <a:r>
              <a:rPr lang="en" dirty="0">
                <a:latin typeface="Courier New"/>
                <a:ea typeface="Courier New"/>
                <a:cs typeface="Courier New"/>
                <a:sym typeface="Courier New"/>
              </a:rPr>
              <a:t> </a:t>
            </a:r>
            <a:endParaRPr dirty="0">
              <a:latin typeface="Courier New"/>
              <a:ea typeface="Courier New"/>
              <a:cs typeface="Courier New"/>
              <a:sym typeface="Courier New"/>
            </a:endParaRPr>
          </a:p>
        </p:txBody>
      </p:sp>
      <p:pic>
        <p:nvPicPr>
          <p:cNvPr id="90" name="Google Shape;90;p18"/>
          <p:cNvPicPr preferRelativeResize="0"/>
          <p:nvPr/>
        </p:nvPicPr>
        <p:blipFill rotWithShape="1">
          <a:blip r:embed="rId3">
            <a:alphaModFix/>
          </a:blip>
          <a:srcRect r="20936"/>
          <a:stretch/>
        </p:blipFill>
        <p:spPr>
          <a:xfrm>
            <a:off x="5694050" y="1257000"/>
            <a:ext cx="3138250" cy="3446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Activating your virtual environment</a:t>
            </a:r>
            <a:endParaRPr/>
          </a:p>
        </p:txBody>
      </p:sp>
      <p:pic>
        <p:nvPicPr>
          <p:cNvPr id="97" name="Google Shape;97;p19"/>
          <p:cNvPicPr preferRelativeResize="0"/>
          <p:nvPr/>
        </p:nvPicPr>
        <p:blipFill>
          <a:blip r:embed="rId3">
            <a:alphaModFix/>
          </a:blip>
          <a:stretch>
            <a:fillRect/>
          </a:stretch>
        </p:blipFill>
        <p:spPr>
          <a:xfrm>
            <a:off x="5889574" y="1234450"/>
            <a:ext cx="2588574" cy="3285175"/>
          </a:xfrm>
          <a:prstGeom prst="rect">
            <a:avLst/>
          </a:prstGeom>
          <a:noFill/>
          <a:ln>
            <a:noFill/>
          </a:ln>
        </p:spPr>
      </p:pic>
      <p:sp>
        <p:nvSpPr>
          <p:cNvPr id="5" name="TextBox 4">
            <a:extLst>
              <a:ext uri="{FF2B5EF4-FFF2-40B4-BE49-F238E27FC236}">
                <a16:creationId xmlns:a16="http://schemas.microsoft.com/office/drawing/2014/main" id="{C3ED8F4D-179B-A366-0325-303942AD0B61}"/>
              </a:ext>
            </a:extLst>
          </p:cNvPr>
          <p:cNvSpPr txBox="1"/>
          <p:nvPr/>
        </p:nvSpPr>
        <p:spPr>
          <a:xfrm>
            <a:off x="311700" y="1138478"/>
            <a:ext cx="5463458" cy="3708708"/>
          </a:xfrm>
          <a:prstGeom prst="rect">
            <a:avLst/>
          </a:prstGeom>
          <a:noFill/>
        </p:spPr>
        <p:txBody>
          <a:bodyPr wrap="square">
            <a:spAutoFit/>
          </a:bodyPr>
          <a:lstStyle/>
          <a:p>
            <a:pPr rtl="0">
              <a:spcAft>
                <a:spcPts val="1200"/>
              </a:spcAft>
              <a:buNone/>
            </a:pPr>
            <a:r>
              <a:rPr lang="en-GB" sz="1500" b="0" i="0" u="none" strike="noStrike" dirty="0">
                <a:solidFill>
                  <a:srgbClr val="595959"/>
                </a:solidFill>
                <a:effectLst/>
                <a:latin typeface="Courier New" panose="02070309020205020404" pitchFamily="49" charset="0"/>
              </a:rPr>
              <a:t>1. python3 -m </a:t>
            </a:r>
            <a:r>
              <a:rPr lang="en-GB" sz="1500" b="0" i="0" u="none" strike="noStrike" dirty="0" err="1">
                <a:solidFill>
                  <a:srgbClr val="595959"/>
                </a:solidFill>
                <a:effectLst/>
                <a:latin typeface="Courier New" panose="02070309020205020404" pitchFamily="49" charset="0"/>
              </a:rPr>
              <a:t>venv</a:t>
            </a:r>
            <a:r>
              <a:rPr lang="en-GB" sz="1500" b="0" i="0" u="none" strike="noStrike" dirty="0">
                <a:solidFill>
                  <a:srgbClr val="595959"/>
                </a:solidFill>
                <a:effectLst/>
                <a:latin typeface="Courier New" panose="02070309020205020404" pitchFamily="49" charset="0"/>
              </a:rPr>
              <a:t> .</a:t>
            </a:r>
            <a:r>
              <a:rPr lang="en-GB" sz="1500" b="0" i="0" u="none" strike="noStrike" dirty="0" err="1">
                <a:solidFill>
                  <a:srgbClr val="595959"/>
                </a:solidFill>
                <a:effectLst/>
                <a:latin typeface="Courier New" panose="02070309020205020404" pitchFamily="49" charset="0"/>
              </a:rPr>
              <a:t>venv</a:t>
            </a:r>
            <a:endParaRPr lang="en-GB" sz="1500" dirty="0">
              <a:effectLst/>
            </a:endParaRPr>
          </a:p>
          <a:p>
            <a:pPr rtl="0">
              <a:spcAft>
                <a:spcPts val="1200"/>
              </a:spcAft>
              <a:buNone/>
            </a:pPr>
            <a:r>
              <a:rPr lang="en-GB" sz="1500" dirty="0">
                <a:solidFill>
                  <a:srgbClr val="595959"/>
                </a:solidFill>
                <a:latin typeface="Courier New" panose="02070309020205020404" pitchFamily="49" charset="0"/>
              </a:rPr>
              <a:t>2</a:t>
            </a:r>
            <a:r>
              <a:rPr lang="en-GB" sz="1500" b="0" i="0" u="none" strike="noStrike" dirty="0">
                <a:solidFill>
                  <a:srgbClr val="595959"/>
                </a:solidFill>
                <a:effectLst/>
                <a:latin typeface="Courier New" panose="02070309020205020404" pitchFamily="49" charset="0"/>
              </a:rPr>
              <a:t>. source .</a:t>
            </a:r>
            <a:r>
              <a:rPr lang="en-GB" sz="1500" b="0" i="0" u="none" strike="noStrike" dirty="0" err="1">
                <a:solidFill>
                  <a:srgbClr val="595959"/>
                </a:solidFill>
                <a:effectLst/>
                <a:latin typeface="Courier New" panose="02070309020205020404" pitchFamily="49" charset="0"/>
              </a:rPr>
              <a:t>venv</a:t>
            </a:r>
            <a:r>
              <a:rPr lang="en-GB" sz="1500" b="0" i="0" u="none" strike="noStrike" dirty="0">
                <a:solidFill>
                  <a:srgbClr val="595959"/>
                </a:solidFill>
                <a:effectLst/>
                <a:latin typeface="Courier New" panose="02070309020205020404" pitchFamily="49" charset="0"/>
              </a:rPr>
              <a:t>/bin/activate</a:t>
            </a:r>
            <a:endParaRPr lang="en-GB" sz="1500" dirty="0">
              <a:effectLst/>
            </a:endParaRPr>
          </a:p>
          <a:p>
            <a:pPr rtl="0">
              <a:spcAft>
                <a:spcPts val="1200"/>
              </a:spcAft>
              <a:buNone/>
            </a:pPr>
            <a:r>
              <a:rPr lang="en-GB" sz="1500" dirty="0">
                <a:solidFill>
                  <a:srgbClr val="595959"/>
                </a:solidFill>
                <a:latin typeface="Courier New" panose="02070309020205020404" pitchFamily="49" charset="0"/>
              </a:rPr>
              <a:t>3</a:t>
            </a:r>
            <a:r>
              <a:rPr lang="en-GB" sz="1500" b="0" i="0" u="none" strike="noStrike" dirty="0">
                <a:solidFill>
                  <a:srgbClr val="595959"/>
                </a:solidFill>
                <a:effectLst/>
                <a:latin typeface="Courier New" panose="02070309020205020404" pitchFamily="49" charset="0"/>
              </a:rPr>
              <a:t>. pip install ".[dev]" </a:t>
            </a:r>
            <a:endParaRPr lang="en-GB" sz="1500" dirty="0">
              <a:effectLst/>
            </a:endParaRPr>
          </a:p>
          <a:p>
            <a:pPr rtl="0">
              <a:spcAft>
                <a:spcPts val="1200"/>
              </a:spcAft>
              <a:buNone/>
            </a:pPr>
            <a:r>
              <a:rPr lang="en-GB" sz="1500" b="0" i="0" u="none" strike="noStrike" dirty="0">
                <a:solidFill>
                  <a:srgbClr val="595959"/>
                </a:solidFill>
                <a:effectLst/>
                <a:latin typeface="Courier New" panose="02070309020205020404" pitchFamily="49" charset="0"/>
              </a:rPr>
              <a:t>4. </a:t>
            </a:r>
            <a:r>
              <a:rPr lang="en-GB" sz="1500" b="0" i="0" u="none" strike="noStrike" dirty="0" err="1">
                <a:solidFill>
                  <a:srgbClr val="595959"/>
                </a:solidFill>
                <a:effectLst/>
                <a:latin typeface="Courier New" panose="02070309020205020404" pitchFamily="49" charset="0"/>
              </a:rPr>
              <a:t>Cmd</a:t>
            </a:r>
            <a:r>
              <a:rPr lang="en-GB" sz="1500" b="0" i="0" u="none" strike="noStrike" dirty="0">
                <a:solidFill>
                  <a:srgbClr val="595959"/>
                </a:solidFill>
                <a:effectLst/>
                <a:latin typeface="Courier New" panose="02070309020205020404" pitchFamily="49" charset="0"/>
              </a:rPr>
              <a:t> + Shift + P</a:t>
            </a:r>
            <a:endParaRPr lang="en-GB" sz="1500" dirty="0">
              <a:effectLst/>
            </a:endParaRPr>
          </a:p>
          <a:p>
            <a:pPr rtl="0">
              <a:spcAft>
                <a:spcPts val="1200"/>
              </a:spcAft>
              <a:buNone/>
            </a:pPr>
            <a:r>
              <a:rPr lang="en-GB" sz="1500" dirty="0">
                <a:solidFill>
                  <a:srgbClr val="595959"/>
                </a:solidFill>
                <a:latin typeface="Courier New" panose="02070309020205020404" pitchFamily="49" charset="0"/>
              </a:rPr>
              <a:t>5</a:t>
            </a:r>
            <a:r>
              <a:rPr lang="en-GB" sz="1500" b="0" i="0" u="none" strike="noStrike" dirty="0">
                <a:solidFill>
                  <a:srgbClr val="595959"/>
                </a:solidFill>
                <a:effectLst/>
                <a:latin typeface="Courier New" panose="02070309020205020404" pitchFamily="49" charset="0"/>
              </a:rPr>
              <a:t>. Python: Select Interpreter</a:t>
            </a:r>
            <a:endParaRPr lang="en-GB" sz="1500" dirty="0">
              <a:effectLst/>
            </a:endParaRPr>
          </a:p>
          <a:p>
            <a:pPr rtl="0">
              <a:spcAft>
                <a:spcPts val="1200"/>
              </a:spcAft>
              <a:buNone/>
            </a:pPr>
            <a:r>
              <a:rPr lang="en-GB" sz="1500" dirty="0">
                <a:solidFill>
                  <a:srgbClr val="595959"/>
                </a:solidFill>
                <a:latin typeface="Courier New" panose="02070309020205020404" pitchFamily="49" charset="0"/>
              </a:rPr>
              <a:t>6</a:t>
            </a:r>
            <a:r>
              <a:rPr lang="en-GB" sz="1500" b="0" i="0" u="none" strike="noStrike" dirty="0">
                <a:solidFill>
                  <a:srgbClr val="595959"/>
                </a:solidFill>
                <a:effectLst/>
                <a:latin typeface="Courier New" panose="02070309020205020404" pitchFamily="49" charset="0"/>
              </a:rPr>
              <a:t>. Start typing in .</a:t>
            </a:r>
            <a:r>
              <a:rPr lang="en-GB" sz="1500" b="0" i="0" u="none" strike="noStrike" dirty="0" err="1">
                <a:solidFill>
                  <a:srgbClr val="595959"/>
                </a:solidFill>
                <a:effectLst/>
                <a:latin typeface="Courier New" panose="02070309020205020404" pitchFamily="49" charset="0"/>
              </a:rPr>
              <a:t>venv</a:t>
            </a:r>
            <a:r>
              <a:rPr lang="en-GB" sz="1500" b="0" i="0" u="none" strike="noStrike" dirty="0">
                <a:solidFill>
                  <a:srgbClr val="595959"/>
                </a:solidFill>
                <a:effectLst/>
                <a:latin typeface="Courier New" panose="02070309020205020404" pitchFamily="49" charset="0"/>
              </a:rPr>
              <a:t>/bin and then click on the interpreter you are using in your </a:t>
            </a:r>
            <a:r>
              <a:rPr lang="en-GB" sz="1500" b="0" i="0" u="none" strike="noStrike" dirty="0" err="1">
                <a:solidFill>
                  <a:srgbClr val="595959"/>
                </a:solidFill>
                <a:effectLst/>
                <a:latin typeface="Courier New" panose="02070309020205020404" pitchFamily="49" charset="0"/>
              </a:rPr>
              <a:t>venv</a:t>
            </a:r>
            <a:r>
              <a:rPr lang="en-GB" sz="1500" b="0" i="0" u="none" strike="noStrike" dirty="0">
                <a:solidFill>
                  <a:srgbClr val="595959"/>
                </a:solidFill>
                <a:effectLst/>
                <a:latin typeface="Courier New" panose="02070309020205020404" pitchFamily="49" charset="0"/>
              </a:rPr>
              <a:t>.</a:t>
            </a:r>
            <a:endParaRPr lang="en-GB" sz="1500" dirty="0">
              <a:effectLst/>
            </a:endParaRPr>
          </a:p>
          <a:p>
            <a:pPr rtl="0">
              <a:spcAft>
                <a:spcPts val="1200"/>
              </a:spcAft>
              <a:buNone/>
            </a:pPr>
            <a:r>
              <a:rPr lang="en-GB" sz="1500" dirty="0">
                <a:solidFill>
                  <a:srgbClr val="595959"/>
                </a:solidFill>
                <a:latin typeface="Courier New" panose="02070309020205020404" pitchFamily="49" charset="0"/>
              </a:rPr>
              <a:t>7</a:t>
            </a:r>
            <a:r>
              <a:rPr lang="en-GB" sz="1500" b="0" i="0" u="none" strike="noStrike" dirty="0">
                <a:solidFill>
                  <a:srgbClr val="595959"/>
                </a:solidFill>
                <a:effectLst/>
                <a:latin typeface="Courier New" panose="02070309020205020404" pitchFamily="49" charset="0"/>
              </a:rPr>
              <a:t>. Write any new dependencies in the .</a:t>
            </a:r>
            <a:r>
              <a:rPr lang="en-GB" sz="1500" b="0" i="0" u="none" strike="noStrike" dirty="0" err="1">
                <a:solidFill>
                  <a:srgbClr val="595959"/>
                </a:solidFill>
                <a:effectLst/>
                <a:latin typeface="Courier New" panose="02070309020205020404" pitchFamily="49" charset="0"/>
              </a:rPr>
              <a:t>toml</a:t>
            </a:r>
            <a:r>
              <a:rPr lang="en-GB" sz="1500" b="0" i="0" u="none" strike="noStrike" dirty="0">
                <a:solidFill>
                  <a:srgbClr val="595959"/>
                </a:solidFill>
                <a:effectLst/>
                <a:latin typeface="Courier New" panose="02070309020205020404" pitchFamily="49" charset="0"/>
              </a:rPr>
              <a:t> file</a:t>
            </a:r>
            <a:endParaRPr lang="en-GB" sz="1500" dirty="0">
              <a:effectLst/>
            </a:endParaRPr>
          </a:p>
          <a:p>
            <a:pPr rtl="0">
              <a:spcAft>
                <a:spcPts val="1200"/>
              </a:spcAft>
              <a:buNone/>
            </a:pPr>
            <a:r>
              <a:rPr lang="en-GB" sz="1500" b="0" i="0" u="none" strike="noStrike" dirty="0">
                <a:solidFill>
                  <a:srgbClr val="595959"/>
                </a:solidFill>
                <a:effectLst/>
                <a:latin typeface="Courier New" panose="02070309020205020404" pitchFamily="49" charset="0"/>
              </a:rPr>
              <a:t>You can now write code :) Apologies for the length</a:t>
            </a:r>
            <a:endParaRPr lang="en-GB" sz="1500" dirty="0">
              <a:effectLs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Making your own functions part 1</a:t>
            </a:r>
            <a:endParaRPr dirty="0"/>
          </a:p>
        </p:txBody>
      </p:sp>
      <p:sp>
        <p:nvSpPr>
          <p:cNvPr id="103" name="Google Shape;103;p20"/>
          <p:cNvSpPr txBox="1">
            <a:spLocks noGrp="1"/>
          </p:cNvSpPr>
          <p:nvPr>
            <p:ph type="body" idx="1"/>
          </p:nvPr>
        </p:nvSpPr>
        <p:spPr>
          <a:xfrm>
            <a:off x="311700" y="1152475"/>
            <a:ext cx="5713800" cy="3909600"/>
          </a:xfrm>
          <a:prstGeom prst="rect">
            <a:avLst/>
          </a:prstGeom>
        </p:spPr>
        <p:txBody>
          <a:bodyPr spcFirstLastPara="1" wrap="square" lIns="91425" tIns="91425" rIns="91425" bIns="91425" anchor="t" anchorCtr="0">
            <a:normAutofit fontScale="85000" lnSpcReduction="10000"/>
          </a:bodyPr>
          <a:lstStyle/>
          <a:p>
            <a:pPr marL="0" lvl="0" indent="0" algn="l" rtl="0">
              <a:spcBef>
                <a:spcPts val="0"/>
              </a:spcBef>
              <a:spcAft>
                <a:spcPts val="0"/>
              </a:spcAft>
              <a:buNone/>
            </a:pPr>
            <a:r>
              <a:rPr lang="en" dirty="0">
                <a:latin typeface="Courier New"/>
                <a:ea typeface="Courier New"/>
                <a:cs typeface="Courier New"/>
                <a:sym typeface="Courier New"/>
              </a:rPr>
              <a:t>1. Once you have developed your new function (naming and location info in previous slide), you need to add it to be tested. Go into the test folder and add a file called </a:t>
            </a:r>
            <a:endParaRPr dirty="0">
              <a:latin typeface="Courier New"/>
              <a:ea typeface="Courier New"/>
              <a:cs typeface="Courier New"/>
              <a:sym typeface="Courier New"/>
            </a:endParaRPr>
          </a:p>
          <a:p>
            <a:pPr marL="0" lvl="0" indent="0" algn="l" rtl="0">
              <a:spcBef>
                <a:spcPts val="1200"/>
              </a:spcBef>
              <a:spcAft>
                <a:spcPts val="0"/>
              </a:spcAft>
              <a:buNone/>
            </a:pPr>
            <a:r>
              <a:rPr lang="en" dirty="0">
                <a:latin typeface="Courier New"/>
                <a:ea typeface="Courier New"/>
                <a:cs typeface="Courier New"/>
                <a:sym typeface="Courier New"/>
              </a:rPr>
              <a:t>test_&lt;</a:t>
            </a:r>
            <a:r>
              <a:rPr lang="en" dirty="0" err="1">
                <a:latin typeface="Courier New"/>
                <a:ea typeface="Courier New"/>
                <a:cs typeface="Courier New"/>
                <a:sym typeface="Courier New"/>
              </a:rPr>
              <a:t>my_function</a:t>
            </a:r>
            <a:r>
              <a:rPr lang="en" dirty="0">
                <a:latin typeface="Courier New"/>
                <a:ea typeface="Courier New"/>
                <a:cs typeface="Courier New"/>
                <a:sym typeface="Courier New"/>
              </a:rPr>
              <a:t>&gt;.</a:t>
            </a:r>
            <a:r>
              <a:rPr lang="en" dirty="0" err="1">
                <a:latin typeface="Courier New"/>
                <a:ea typeface="Courier New"/>
                <a:cs typeface="Courier New"/>
                <a:sym typeface="Courier New"/>
              </a:rPr>
              <a:t>py</a:t>
            </a:r>
            <a:br>
              <a:rPr lang="en" dirty="0">
                <a:latin typeface="Courier New"/>
                <a:ea typeface="Courier New"/>
                <a:cs typeface="Courier New"/>
                <a:sym typeface="Courier New"/>
              </a:rPr>
            </a:br>
            <a:br>
              <a:rPr lang="en" dirty="0">
                <a:latin typeface="Courier New"/>
                <a:ea typeface="Courier New"/>
                <a:cs typeface="Courier New"/>
                <a:sym typeface="Courier New"/>
              </a:rPr>
            </a:br>
            <a:r>
              <a:rPr lang="en" dirty="0">
                <a:latin typeface="Courier New"/>
                <a:ea typeface="Courier New"/>
                <a:cs typeface="Courier New"/>
                <a:sym typeface="Courier New"/>
              </a:rPr>
              <a:t>Use the templates provided in the GitHub which are downloaded locally in the first few steps</a:t>
            </a:r>
            <a:endParaRPr dirty="0">
              <a:latin typeface="Courier New"/>
              <a:ea typeface="Courier New"/>
              <a:cs typeface="Courier New"/>
              <a:sym typeface="Courier New"/>
            </a:endParaRPr>
          </a:p>
          <a:p>
            <a:pPr marL="0" lvl="0" indent="0" algn="l" rtl="0">
              <a:spcBef>
                <a:spcPts val="1200"/>
              </a:spcBef>
              <a:spcAft>
                <a:spcPts val="0"/>
              </a:spcAft>
              <a:buNone/>
            </a:pPr>
            <a:endParaRPr dirty="0">
              <a:latin typeface="Courier New"/>
              <a:ea typeface="Courier New"/>
              <a:cs typeface="Courier New"/>
              <a:sym typeface="Courier New"/>
            </a:endParaRPr>
          </a:p>
          <a:p>
            <a:pPr marL="0" lvl="0" indent="0" algn="l" rtl="0">
              <a:spcBef>
                <a:spcPts val="1200"/>
              </a:spcBef>
              <a:spcAft>
                <a:spcPts val="1200"/>
              </a:spcAft>
              <a:buNone/>
            </a:pPr>
            <a:r>
              <a:rPr lang="en" dirty="0">
                <a:latin typeface="Courier New"/>
                <a:ea typeface="Courier New"/>
                <a:cs typeface="Courier New"/>
                <a:sym typeface="Courier New"/>
              </a:rPr>
              <a:t>2. Add any files in the resources folder that you need to test your function, (for example if it needs a text file to see what the header is)  </a:t>
            </a:r>
            <a:endParaRPr dirty="0">
              <a:latin typeface="Courier New"/>
              <a:ea typeface="Courier New"/>
              <a:cs typeface="Courier New"/>
              <a:sym typeface="Courier New"/>
            </a:endParaRPr>
          </a:p>
        </p:txBody>
      </p:sp>
      <p:pic>
        <p:nvPicPr>
          <p:cNvPr id="104" name="Google Shape;104;p20"/>
          <p:cNvPicPr preferRelativeResize="0"/>
          <p:nvPr/>
        </p:nvPicPr>
        <p:blipFill>
          <a:blip r:embed="rId3">
            <a:alphaModFix/>
          </a:blip>
          <a:stretch>
            <a:fillRect/>
          </a:stretch>
        </p:blipFill>
        <p:spPr>
          <a:xfrm>
            <a:off x="6152650" y="2032188"/>
            <a:ext cx="2820125" cy="137567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Making your own functions part 2</a:t>
            </a:r>
            <a:endParaRPr/>
          </a:p>
        </p:txBody>
      </p:sp>
      <p:sp>
        <p:nvSpPr>
          <p:cNvPr id="110" name="Google Shape;110;p21"/>
          <p:cNvSpPr txBox="1">
            <a:spLocks noGrp="1"/>
          </p:cNvSpPr>
          <p:nvPr>
            <p:ph type="body" idx="1"/>
          </p:nvPr>
        </p:nvSpPr>
        <p:spPr>
          <a:xfrm>
            <a:off x="311700" y="1152475"/>
            <a:ext cx="7094100" cy="3909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latin typeface="Courier New"/>
                <a:ea typeface="Courier New"/>
                <a:cs typeface="Courier New"/>
                <a:sym typeface="Courier New"/>
              </a:rPr>
              <a:t>1. Now run:</a:t>
            </a:r>
            <a:br>
              <a:rPr lang="en" dirty="0">
                <a:latin typeface="Courier New"/>
                <a:ea typeface="Courier New"/>
                <a:cs typeface="Courier New"/>
                <a:sym typeface="Courier New"/>
              </a:rPr>
            </a:br>
            <a:br>
              <a:rPr lang="en" dirty="0">
                <a:latin typeface="Courier New"/>
                <a:ea typeface="Courier New"/>
                <a:cs typeface="Courier New"/>
                <a:sym typeface="Courier New"/>
              </a:rPr>
            </a:br>
            <a:r>
              <a:rPr lang="en" dirty="0" err="1">
                <a:latin typeface="Courier New"/>
                <a:ea typeface="Courier New"/>
                <a:cs typeface="Courier New"/>
                <a:sym typeface="Courier New"/>
              </a:rPr>
              <a:t>pytest</a:t>
            </a:r>
            <a:r>
              <a:rPr lang="en" dirty="0">
                <a:latin typeface="Courier New"/>
                <a:ea typeface="Courier New"/>
                <a:cs typeface="Courier New"/>
                <a:sym typeface="Courier New"/>
              </a:rPr>
              <a:t> functions/tests/test_&lt;</a:t>
            </a:r>
            <a:r>
              <a:rPr lang="en" dirty="0" err="1">
                <a:latin typeface="Courier New"/>
                <a:ea typeface="Courier New"/>
                <a:cs typeface="Courier New"/>
                <a:sym typeface="Courier New"/>
              </a:rPr>
              <a:t>my_function</a:t>
            </a:r>
            <a:r>
              <a:rPr lang="en" dirty="0">
                <a:latin typeface="Courier New"/>
                <a:ea typeface="Courier New"/>
                <a:cs typeface="Courier New"/>
                <a:sym typeface="Courier New"/>
              </a:rPr>
              <a:t>&gt;.</a:t>
            </a:r>
            <a:r>
              <a:rPr lang="en" dirty="0" err="1">
                <a:latin typeface="Courier New"/>
                <a:ea typeface="Courier New"/>
                <a:cs typeface="Courier New"/>
                <a:sym typeface="Courier New"/>
              </a:rPr>
              <a:t>py</a:t>
            </a:r>
            <a:endParaRPr dirty="0">
              <a:latin typeface="Courier New"/>
              <a:ea typeface="Courier New"/>
              <a:cs typeface="Courier New"/>
              <a:sym typeface="Courier New"/>
            </a:endParaRPr>
          </a:p>
          <a:p>
            <a:pPr marL="0" lvl="0" indent="0" algn="l" rtl="0">
              <a:spcBef>
                <a:spcPts val="1200"/>
              </a:spcBef>
              <a:spcAft>
                <a:spcPts val="0"/>
              </a:spcAft>
              <a:buNone/>
            </a:pPr>
            <a:endParaRPr dirty="0">
              <a:latin typeface="Courier New"/>
              <a:ea typeface="Courier New"/>
              <a:cs typeface="Courier New"/>
              <a:sym typeface="Courier New"/>
            </a:endParaRPr>
          </a:p>
          <a:p>
            <a:pPr marL="0" lvl="0" indent="0" algn="l" rtl="0">
              <a:spcBef>
                <a:spcPts val="1200"/>
              </a:spcBef>
              <a:spcAft>
                <a:spcPts val="1200"/>
              </a:spcAft>
              <a:buNone/>
            </a:pPr>
            <a:r>
              <a:rPr lang="en" dirty="0">
                <a:latin typeface="Courier New"/>
                <a:ea typeface="Courier New"/>
                <a:cs typeface="Courier New"/>
                <a:sym typeface="Courier New"/>
              </a:rPr>
              <a:t>2. You should now see this. This means your function is ready for upload.  </a:t>
            </a:r>
            <a:endParaRPr dirty="0">
              <a:latin typeface="Courier New"/>
              <a:ea typeface="Courier New"/>
              <a:cs typeface="Courier New"/>
              <a:sym typeface="Courier New"/>
            </a:endParaRPr>
          </a:p>
        </p:txBody>
      </p:sp>
      <p:pic>
        <p:nvPicPr>
          <p:cNvPr id="111" name="Google Shape;111;p21"/>
          <p:cNvPicPr preferRelativeResize="0"/>
          <p:nvPr/>
        </p:nvPicPr>
        <p:blipFill>
          <a:blip r:embed="rId3">
            <a:alphaModFix/>
          </a:blip>
          <a:stretch>
            <a:fillRect/>
          </a:stretch>
        </p:blipFill>
        <p:spPr>
          <a:xfrm>
            <a:off x="374575" y="3834626"/>
            <a:ext cx="7988151" cy="904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Uploading to GitHub</a:t>
            </a:r>
            <a:endParaRPr/>
          </a:p>
        </p:txBody>
      </p:sp>
      <p:sp>
        <p:nvSpPr>
          <p:cNvPr id="117" name="Google Shape;117;p22"/>
          <p:cNvSpPr txBox="1">
            <a:spLocks noGrp="1"/>
          </p:cNvSpPr>
          <p:nvPr>
            <p:ph type="body" idx="1"/>
          </p:nvPr>
        </p:nvSpPr>
        <p:spPr>
          <a:xfrm>
            <a:off x="311700" y="1152475"/>
            <a:ext cx="8335800" cy="3909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latin typeface="Courier New"/>
                <a:ea typeface="Courier New"/>
                <a:cs typeface="Courier New"/>
                <a:sym typeface="Courier New"/>
              </a:rPr>
              <a:t>1. git add . </a:t>
            </a:r>
            <a:endParaRPr dirty="0">
              <a:latin typeface="Courier New"/>
              <a:ea typeface="Courier New"/>
              <a:cs typeface="Courier New"/>
              <a:sym typeface="Courier New"/>
            </a:endParaRPr>
          </a:p>
          <a:p>
            <a:pPr marL="0" lvl="0" indent="0" algn="l" rtl="0">
              <a:spcBef>
                <a:spcPts val="1200"/>
              </a:spcBef>
              <a:spcAft>
                <a:spcPts val="0"/>
              </a:spcAft>
              <a:buNone/>
            </a:pPr>
            <a:r>
              <a:rPr lang="en" dirty="0">
                <a:latin typeface="Courier New"/>
                <a:ea typeface="Courier New"/>
                <a:cs typeface="Courier New"/>
                <a:sym typeface="Courier New"/>
              </a:rPr>
              <a:t>2. git commit -m "Description of what you changed"</a:t>
            </a:r>
            <a:endParaRPr dirty="0">
              <a:latin typeface="Courier New"/>
              <a:ea typeface="Courier New"/>
              <a:cs typeface="Courier New"/>
              <a:sym typeface="Courier New"/>
            </a:endParaRPr>
          </a:p>
          <a:p>
            <a:pPr marL="0" lvl="0" indent="0" algn="l" rtl="0">
              <a:spcBef>
                <a:spcPts val="1200"/>
              </a:spcBef>
              <a:spcAft>
                <a:spcPts val="0"/>
              </a:spcAft>
              <a:buNone/>
            </a:pPr>
            <a:r>
              <a:rPr lang="en" dirty="0">
                <a:latin typeface="Courier New"/>
                <a:ea typeface="Courier New"/>
                <a:cs typeface="Courier New"/>
                <a:sym typeface="Courier New"/>
              </a:rPr>
              <a:t>3. git push origin </a:t>
            </a:r>
            <a:r>
              <a:rPr lang="en" dirty="0" err="1">
                <a:latin typeface="Courier New"/>
                <a:ea typeface="Courier New"/>
                <a:cs typeface="Courier New"/>
                <a:sym typeface="Courier New"/>
              </a:rPr>
              <a:t>your_branch</a:t>
            </a:r>
            <a:endParaRPr dirty="0">
              <a:latin typeface="Courier New"/>
              <a:ea typeface="Courier New"/>
              <a:cs typeface="Courier New"/>
              <a:sym typeface="Courier New"/>
            </a:endParaRPr>
          </a:p>
          <a:p>
            <a:pPr marL="0" lvl="0" indent="0" algn="l" rtl="0">
              <a:spcBef>
                <a:spcPts val="1200"/>
              </a:spcBef>
              <a:spcAft>
                <a:spcPts val="1200"/>
              </a:spcAft>
              <a:buNone/>
            </a:pPr>
            <a:br>
              <a:rPr lang="en" dirty="0">
                <a:latin typeface="Courier New"/>
                <a:ea typeface="Courier New"/>
                <a:cs typeface="Courier New"/>
                <a:sym typeface="Courier New"/>
              </a:rPr>
            </a:br>
            <a:r>
              <a:rPr lang="en" dirty="0">
                <a:latin typeface="Courier New"/>
                <a:ea typeface="Courier New"/>
                <a:cs typeface="Courier New"/>
                <a:sym typeface="Courier New"/>
              </a:rPr>
              <a:t>At this point, the tests will automatically run on GitHub and the moderator will either merge your code or send it back to you for amendments. If it is sent back, modify it and then complete the same three above steps.</a:t>
            </a:r>
            <a:endParaRPr dirty="0">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Finishing up</a:t>
            </a:r>
            <a:endParaRPr/>
          </a:p>
        </p:txBody>
      </p:sp>
      <p:sp>
        <p:nvSpPr>
          <p:cNvPr id="123" name="Google Shape;123;p23"/>
          <p:cNvSpPr txBox="1">
            <a:spLocks noGrp="1"/>
          </p:cNvSpPr>
          <p:nvPr>
            <p:ph type="body" idx="1"/>
          </p:nvPr>
        </p:nvSpPr>
        <p:spPr>
          <a:xfrm>
            <a:off x="311700" y="1088250"/>
            <a:ext cx="8335800" cy="4369800"/>
          </a:xfrm>
          <a:prstGeom prst="rect">
            <a:avLst/>
          </a:prstGeom>
        </p:spPr>
        <p:txBody>
          <a:bodyPr spcFirstLastPara="1" wrap="square" lIns="91425" tIns="91425" rIns="91425" bIns="91425" anchor="t" anchorCtr="0">
            <a:normAutofit fontScale="92500"/>
          </a:bodyPr>
          <a:lstStyle/>
          <a:p>
            <a:pPr marL="0" lvl="0" indent="0" algn="l" rtl="0">
              <a:spcBef>
                <a:spcPts val="0"/>
              </a:spcBef>
              <a:spcAft>
                <a:spcPts val="0"/>
              </a:spcAft>
              <a:buNone/>
            </a:pPr>
            <a:r>
              <a:rPr lang="en">
                <a:latin typeface="Courier New"/>
                <a:ea typeface="Courier New"/>
                <a:cs typeface="Courier New"/>
                <a:sym typeface="Courier New"/>
              </a:rPr>
              <a:t>Occasionally, you may have accidentally modified your code by accident after doing a pull request. If this happens, you will get this error:</a:t>
            </a:r>
            <a:br>
              <a:rPr lang="en">
                <a:latin typeface="Courier New"/>
                <a:ea typeface="Courier New"/>
                <a:cs typeface="Courier New"/>
                <a:sym typeface="Courier New"/>
              </a:rPr>
            </a:br>
            <a:br>
              <a:rPr lang="en">
                <a:latin typeface="Courier New"/>
                <a:ea typeface="Courier New"/>
                <a:cs typeface="Courier New"/>
                <a:sym typeface="Courier New"/>
              </a:rPr>
            </a:br>
            <a:r>
              <a:rPr lang="en">
                <a:latin typeface="Courier New"/>
                <a:ea typeface="Courier New"/>
                <a:cs typeface="Courier New"/>
                <a:sym typeface="Courier New"/>
              </a:rPr>
              <a:t>error: Your local changes to the following files would be overwritten by checkout:</a:t>
            </a:r>
            <a:endParaRPr>
              <a:latin typeface="Courier New"/>
              <a:ea typeface="Courier New"/>
              <a:cs typeface="Courier New"/>
              <a:sym typeface="Courier New"/>
            </a:endParaRPr>
          </a:p>
          <a:p>
            <a:pPr marL="0" lvl="0" indent="0" algn="l" rtl="0">
              <a:spcBef>
                <a:spcPts val="1200"/>
              </a:spcBef>
              <a:spcAft>
                <a:spcPts val="0"/>
              </a:spcAft>
              <a:buClr>
                <a:schemeClr val="dk1"/>
              </a:buClr>
              <a:buSzPct val="61111"/>
              <a:buFont typeface="Arial"/>
              <a:buNone/>
            </a:pPr>
            <a:r>
              <a:rPr lang="en">
                <a:latin typeface="Courier New"/>
                <a:ea typeface="Courier New"/>
                <a:cs typeface="Courier New"/>
                <a:sym typeface="Courier New"/>
              </a:rPr>
              <a:t>        functions/rf_logs/my_function.py</a:t>
            </a:r>
            <a:endParaRPr>
              <a:latin typeface="Courier New"/>
              <a:ea typeface="Courier New"/>
              <a:cs typeface="Courier New"/>
              <a:sym typeface="Courier New"/>
            </a:endParaRPr>
          </a:p>
          <a:p>
            <a:pPr marL="0" lvl="0" indent="0" algn="l" rtl="0">
              <a:spcBef>
                <a:spcPts val="1200"/>
              </a:spcBef>
              <a:spcAft>
                <a:spcPts val="0"/>
              </a:spcAft>
              <a:buClr>
                <a:schemeClr val="dk1"/>
              </a:buClr>
              <a:buSzPct val="61111"/>
              <a:buFont typeface="Arial"/>
              <a:buNone/>
            </a:pPr>
            <a:r>
              <a:rPr lang="en">
                <a:latin typeface="Courier New"/>
                <a:ea typeface="Courier New"/>
                <a:cs typeface="Courier New"/>
                <a:sym typeface="Courier New"/>
              </a:rPr>
              <a:t>Please commit your changes or stash them before you switch branches.</a:t>
            </a:r>
            <a:br>
              <a:rPr lang="en">
                <a:latin typeface="Courier New"/>
                <a:ea typeface="Courier New"/>
                <a:cs typeface="Courier New"/>
                <a:sym typeface="Courier New"/>
              </a:rPr>
            </a:br>
            <a:br>
              <a:rPr lang="en">
                <a:latin typeface="Courier New"/>
                <a:ea typeface="Courier New"/>
                <a:cs typeface="Courier New"/>
                <a:sym typeface="Courier New"/>
              </a:rPr>
            </a:br>
            <a:r>
              <a:rPr lang="en">
                <a:latin typeface="Courier New"/>
                <a:ea typeface="Courier New"/>
                <a:cs typeface="Courier New"/>
                <a:sym typeface="Courier New"/>
              </a:rPr>
              <a:t>If you have done this on purpose, re push. If not, just run:</a:t>
            </a:r>
            <a:br>
              <a:rPr lang="en">
                <a:latin typeface="Courier New"/>
                <a:ea typeface="Courier New"/>
                <a:cs typeface="Courier New"/>
                <a:sym typeface="Courier New"/>
              </a:rPr>
            </a:br>
            <a:br>
              <a:rPr lang="en">
                <a:latin typeface="Courier New"/>
                <a:ea typeface="Courier New"/>
                <a:cs typeface="Courier New"/>
                <a:sym typeface="Courier New"/>
              </a:rPr>
            </a:br>
            <a:r>
              <a:rPr lang="en">
                <a:latin typeface="Courier New"/>
                <a:ea typeface="Courier New"/>
                <a:cs typeface="Courier New"/>
                <a:sym typeface="Courier New"/>
              </a:rPr>
              <a:t>git checkout -- functions/rf_logs/my_function.py</a:t>
            </a:r>
            <a:endParaRPr>
              <a:latin typeface="Courier New"/>
              <a:ea typeface="Courier New"/>
              <a:cs typeface="Courier New"/>
              <a:sym typeface="Courier New"/>
            </a:endParaRPr>
          </a:p>
          <a:p>
            <a:pPr marL="0" lvl="0" indent="0" algn="l" rtl="0">
              <a:spcBef>
                <a:spcPts val="1200"/>
              </a:spcBef>
              <a:spcAft>
                <a:spcPts val="1200"/>
              </a:spcAft>
              <a:buNone/>
            </a:pPr>
            <a:endParaRPr>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Cleaning up</a:t>
            </a:r>
            <a:endParaRPr/>
          </a:p>
        </p:txBody>
      </p:sp>
      <p:sp>
        <p:nvSpPr>
          <p:cNvPr id="129" name="Google Shape;129;p24"/>
          <p:cNvSpPr txBox="1">
            <a:spLocks noGrp="1"/>
          </p:cNvSpPr>
          <p:nvPr>
            <p:ph type="body" idx="1"/>
          </p:nvPr>
        </p:nvSpPr>
        <p:spPr>
          <a:xfrm>
            <a:off x="311700" y="1088250"/>
            <a:ext cx="8335800" cy="4369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latin typeface="Courier New"/>
                <a:ea typeface="Courier New"/>
                <a:cs typeface="Courier New"/>
                <a:sym typeface="Courier New"/>
              </a:rPr>
              <a:t>28. git checkout main (go back to the main branch)</a:t>
            </a:r>
            <a:endParaRPr dirty="0">
              <a:latin typeface="Courier New"/>
              <a:ea typeface="Courier New"/>
              <a:cs typeface="Courier New"/>
              <a:sym typeface="Courier New"/>
            </a:endParaRPr>
          </a:p>
          <a:p>
            <a:pPr marL="0" lvl="0" indent="0" algn="l" rtl="0">
              <a:spcBef>
                <a:spcPts val="1200"/>
              </a:spcBef>
              <a:spcAft>
                <a:spcPts val="0"/>
              </a:spcAft>
              <a:buNone/>
            </a:pPr>
            <a:r>
              <a:rPr lang="en" dirty="0">
                <a:latin typeface="Courier New"/>
                <a:ea typeface="Courier New"/>
                <a:cs typeface="Courier New"/>
                <a:sym typeface="Courier New"/>
              </a:rPr>
              <a:t>29. git branch -d </a:t>
            </a:r>
            <a:r>
              <a:rPr lang="en" dirty="0" err="1">
                <a:latin typeface="Courier New"/>
                <a:ea typeface="Courier New"/>
                <a:cs typeface="Courier New"/>
                <a:sym typeface="Courier New"/>
              </a:rPr>
              <a:t>your_branch</a:t>
            </a:r>
            <a:r>
              <a:rPr lang="en" dirty="0">
                <a:latin typeface="Courier New"/>
                <a:ea typeface="Courier New"/>
                <a:cs typeface="Courier New"/>
                <a:sym typeface="Courier New"/>
              </a:rPr>
              <a:t> </a:t>
            </a:r>
            <a:endParaRPr dirty="0">
              <a:latin typeface="Courier New"/>
              <a:ea typeface="Courier New"/>
              <a:cs typeface="Courier New"/>
              <a:sym typeface="Courier New"/>
            </a:endParaRPr>
          </a:p>
          <a:p>
            <a:pPr marL="0" lvl="0" indent="0" algn="l" rtl="0">
              <a:spcBef>
                <a:spcPts val="1200"/>
              </a:spcBef>
              <a:spcAft>
                <a:spcPts val="1200"/>
              </a:spcAft>
              <a:buNone/>
            </a:pPr>
            <a:r>
              <a:rPr lang="en" dirty="0">
                <a:latin typeface="Courier New"/>
                <a:ea typeface="Courier New"/>
                <a:cs typeface="Courier New"/>
                <a:sym typeface="Courier New"/>
              </a:rPr>
              <a:t>30. git pull origin main</a:t>
            </a:r>
          </a:p>
          <a:p>
            <a:pPr marL="0" lvl="0" indent="0" algn="l" rtl="0">
              <a:spcBef>
                <a:spcPts val="1200"/>
              </a:spcBef>
              <a:spcAft>
                <a:spcPts val="1200"/>
              </a:spcAft>
              <a:buNone/>
            </a:pPr>
            <a:r>
              <a:rPr lang="en" dirty="0">
                <a:latin typeface="Courier New"/>
                <a:ea typeface="Courier New"/>
                <a:cs typeface="Courier New"/>
                <a:sym typeface="Courier New"/>
              </a:rPr>
              <a:t>You have successfully created, tested and uploaded code </a:t>
            </a:r>
            <a:r>
              <a:rPr lang="en" dirty="0">
                <a:latin typeface="Courier New"/>
                <a:ea typeface="Courier New"/>
                <a:cs typeface="Courier New"/>
                <a:sym typeface="Wingdings" pitchFamily="2" charset="2"/>
              </a:rPr>
              <a:t></a:t>
            </a:r>
            <a:endParaRPr dirty="0">
              <a:latin typeface="Courier New"/>
              <a:ea typeface="Courier New"/>
              <a:cs typeface="Courier New"/>
              <a:sym typeface="Courier New"/>
            </a:endParaRPr>
          </a:p>
        </p:txBody>
      </p:sp>
      <p:pic>
        <p:nvPicPr>
          <p:cNvPr id="2058" name="Picture 10" descr="Free Github Logo 3D Icon - Download or Copy PNG, glTF, FBX | IconScout">
            <a:extLst>
              <a:ext uri="{FF2B5EF4-FFF2-40B4-BE49-F238E27FC236}">
                <a16:creationId xmlns:a16="http://schemas.microsoft.com/office/drawing/2014/main" id="{CF2FC0E0-6A68-7018-B6EB-B2237996B4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1032" y="3406391"/>
            <a:ext cx="1527461" cy="1527461"/>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33,800+ Green Tick Mark Stock Photos, Pictures &amp; Royalty-Free Images -  iStock">
            <a:extLst>
              <a:ext uri="{FF2B5EF4-FFF2-40B4-BE49-F238E27FC236}">
                <a16:creationId xmlns:a16="http://schemas.microsoft.com/office/drawing/2014/main" id="{1C31FD37-0191-35A2-3BB1-0451ECC240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9147" y="3417807"/>
            <a:ext cx="1527462" cy="15274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656</Words>
  <Application>Microsoft Macintosh PowerPoint</Application>
  <PresentationFormat>On-screen Show (16:9)</PresentationFormat>
  <Paragraphs>70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Courier New</vt:lpstr>
      <vt:lpstr>Simple Light</vt:lpstr>
      <vt:lpstr>A guide to …</vt:lpstr>
      <vt:lpstr>Setting Up Part 1</vt:lpstr>
      <vt:lpstr>Setting Up Part 2</vt:lpstr>
      <vt:lpstr>Setting Up Part 3</vt:lpstr>
      <vt:lpstr>Setting up Python</vt:lpstr>
      <vt:lpstr>Naming convention</vt:lpstr>
      <vt:lpstr>Activating your virtual environment</vt:lpstr>
      <vt:lpstr>Making your own functions part 1</vt:lpstr>
      <vt:lpstr>Making your own functions part 2</vt:lpstr>
      <vt:lpstr>Uploading to GitHub</vt:lpstr>
      <vt:lpstr>Finishing up</vt:lpstr>
      <vt:lpstr>Cleaning up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Lally Oscar (OLALLY)</cp:lastModifiedBy>
  <cp:revision>10</cp:revision>
  <dcterms:modified xsi:type="dcterms:W3CDTF">2026-03-10T15:51:54Z</dcterms:modified>
</cp:coreProperties>
</file>